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iFqLkAzzRRs60UTV7lXYVmKJxq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" name="Google Shape;25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3" name="Google Shape;27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03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2377440" y="-1280160"/>
            <a:ext cx="2743200" cy="2743200"/>
          </a:xfrm>
          <a:prstGeom prst="ellipse">
            <a:avLst/>
          </a:prstGeom>
          <a:solidFill>
            <a:srgbClr val="3FA6A1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417320" y="2148840"/>
            <a:ext cx="1371600" cy="13716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shiel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68196" y="2299716"/>
            <a:ext cx="1069848" cy="106984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548640" y="39776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429768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663440" y="2331720"/>
            <a:ext cx="694944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Proyecto COMTE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663440" y="3383280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E6EB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D7E6EB"/>
                </a:solidFill>
                <a:latin typeface="Calibri"/>
                <a:ea typeface="Calibri"/>
                <a:cs typeface="Calibri"/>
                <a:sym typeface="Calibri"/>
              </a:rPr>
              <a:t>Automatización del cumplimiento ISO 27001:2022 para Pymes chilenas mediante inteligencia artificial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1"/>
          <p:cNvCxnSpPr/>
          <p:nvPr/>
        </p:nvCxnSpPr>
        <p:spPr>
          <a:xfrm>
            <a:off x="4663440" y="4526280"/>
            <a:ext cx="3108960" cy="0"/>
          </a:xfrm>
          <a:prstGeom prst="straightConnector1">
            <a:avLst/>
          </a:prstGeom>
          <a:noFill/>
          <a:ln cap="flat" cmpd="sng" w="25400">
            <a:solidFill>
              <a:srgbClr val="3FA6A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1"/>
          <p:cNvSpPr/>
          <p:nvPr/>
        </p:nvSpPr>
        <p:spPr>
          <a:xfrm>
            <a:off x="4663440" y="480060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FA6A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FA6A1"/>
                </a:solidFill>
                <a:latin typeface="Calibri"/>
                <a:ea typeface="Calibri"/>
                <a:cs typeface="Calibri"/>
                <a:sym typeface="Calibri"/>
              </a:rPr>
              <a:t>Empresa / organización: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Keen Eye IT</a:t>
            </a:r>
            <a:b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300">
                <a:solidFill>
                  <a:srgbClr val="3FA6A1"/>
                </a:solidFill>
                <a:latin typeface="Calibri"/>
                <a:ea typeface="Calibri"/>
                <a:cs typeface="Calibri"/>
                <a:sym typeface="Calibri"/>
              </a:rPr>
              <a:t>Cliente: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Carolina Moncada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Qué revisaremos hoy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548640" y="1737360"/>
            <a:ext cx="5074920" cy="749808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685800" y="173736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1417320" y="1737360"/>
            <a:ext cx="4069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Descripción y relevancia del proyecto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89320" y="1737360"/>
            <a:ext cx="5074920" cy="749808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126480" y="173736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858000" y="1737360"/>
            <a:ext cx="4069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Vínculo con el perfil de egreso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2651760"/>
            <a:ext cx="5074920" cy="749808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85800" y="265176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17320" y="2651760"/>
            <a:ext cx="4069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Intereses profesionales del equipo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989320" y="2651760"/>
            <a:ext cx="5074920" cy="749808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126480" y="265176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6858000" y="2651760"/>
            <a:ext cx="4069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Factibilidad dentro de la asignatura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3566160"/>
            <a:ext cx="5074920" cy="749808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85800" y="356616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05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1417320" y="3566160"/>
            <a:ext cx="4069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Objetivos y metodología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989320" y="3566160"/>
            <a:ext cx="5074920" cy="749808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126480" y="356616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06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858000" y="3566160"/>
            <a:ext cx="4069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Plan de trabajo, recursos y evidencias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48640" y="4480560"/>
            <a:ext cx="5074920" cy="749808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685800" y="4480560"/>
            <a:ext cx="731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400"/>
              <a:buFont typeface="Cambria"/>
              <a:buNone/>
            </a:pPr>
            <a:r>
              <a:rPr b="1" lang="en-US" sz="2400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07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1417320" y="4480560"/>
            <a:ext cx="40690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Indicadores de calidad y riesgos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Proyecto APT · COMTE  |  Capstone PTY4614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 · DESCRIPCIÓN Y RELEVANCIA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¿Qué es el Proyecto COMTE?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548640" y="1691640"/>
            <a:ext cx="6492240" cy="420624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868680" y="1920240"/>
            <a:ext cx="585216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COMTE es un software SaaS que utiliza inteligencia artificial para automatizar la adopción de la norma </a:t>
            </a:r>
            <a:r>
              <a:rPr b="1" lang="en-US" sz="14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ISO 27001:2022</a:t>
            </a:r>
            <a:r>
              <a:rPr lang="en-US" sz="14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 en pequeñas y medianas empresas chilenas.</a:t>
            </a:r>
            <a:br>
              <a:rPr lang="en-US" sz="14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4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El sistema ejecuta un </a:t>
            </a:r>
            <a:r>
              <a:rPr b="1" lang="en-US" sz="14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Gap Analysis</a:t>
            </a:r>
            <a:r>
              <a:rPr lang="en-US" sz="14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 automatizado sobre los 93 controles del Anexo A, calcula el riesgo versus el esfuerzo de cada brecha y genera un plan de remediación priorizado, sin depender de un equipo humano dedicado a la gestión documental.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7315200" y="1691640"/>
            <a:ext cx="4343400" cy="42062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635240" y="1965960"/>
            <a:ext cx="548640" cy="548640"/>
          </a:xfrm>
          <a:prstGeom prst="ellipse">
            <a:avLst/>
          </a:prstGeom>
          <a:solidFill>
            <a:srgbClr val="3FA6A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briefcase.png" id="64" name="Google Shape;6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5590" y="2026310"/>
            <a:ext cx="427939" cy="427939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3"/>
          <p:cNvSpPr/>
          <p:nvPr/>
        </p:nvSpPr>
        <p:spPr>
          <a:xfrm>
            <a:off x="8321040" y="1993392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Relevancia para el campo laboral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35240" y="2606040"/>
            <a:ext cx="37490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4EEF1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E4EEF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250">
                <a:solidFill>
                  <a:srgbClr val="3FA6A1"/>
                </a:solidFill>
                <a:latin typeface="Calibri"/>
                <a:ea typeface="Calibri"/>
                <a:cs typeface="Calibri"/>
                <a:sym typeface="Calibri"/>
              </a:rPr>
              <a:t>Nuevas leyes chilenas —</a:t>
            </a:r>
            <a:r>
              <a:rPr lang="en-US" sz="1250">
                <a:solidFill>
                  <a:srgbClr val="E4EEF1"/>
                </a:solidFill>
                <a:latin typeface="Calibri"/>
                <a:ea typeface="Calibri"/>
                <a:cs typeface="Calibri"/>
                <a:sym typeface="Calibri"/>
              </a:rPr>
              <a:t> Ley Marco de Ciberseguridad N.° 21.663 y Ley de Protección de Datos N.° 21.719 — obligan a formalizar la gestión de seguridad de la información.</a:t>
            </a:r>
            <a:br>
              <a:rPr lang="en-US" sz="1250">
                <a:solidFill>
                  <a:srgbClr val="E4EEF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50">
                <a:solidFill>
                  <a:srgbClr val="E4EEF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E4EEF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250">
                <a:solidFill>
                  <a:srgbClr val="3FA6A1"/>
                </a:solidFill>
                <a:latin typeface="Calibri"/>
                <a:ea typeface="Calibri"/>
                <a:cs typeface="Calibri"/>
                <a:sym typeface="Calibri"/>
              </a:rPr>
              <a:t>Brecha real —</a:t>
            </a:r>
            <a:r>
              <a:rPr lang="en-US" sz="1250">
                <a:solidFill>
                  <a:srgbClr val="E4EEF1"/>
                </a:solidFill>
                <a:latin typeface="Calibri"/>
                <a:ea typeface="Calibri"/>
                <a:cs typeface="Calibri"/>
                <a:sym typeface="Calibri"/>
              </a:rPr>
              <a:t> las Pymes tienen recursos limitados y procesos manuales propensos a error para cumplir estas exigencias.</a:t>
            </a:r>
            <a:br>
              <a:rPr lang="en-US" sz="1250">
                <a:solidFill>
                  <a:srgbClr val="E4EEF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250">
                <a:solidFill>
                  <a:srgbClr val="E4EEF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50">
                <a:solidFill>
                  <a:srgbClr val="E4EEF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b="1" lang="en-US" sz="1250">
                <a:solidFill>
                  <a:srgbClr val="3FA6A1"/>
                </a:solidFill>
                <a:latin typeface="Calibri"/>
                <a:ea typeface="Calibri"/>
                <a:cs typeface="Calibri"/>
                <a:sym typeface="Calibri"/>
              </a:rPr>
              <a:t>Campo profesional —</a:t>
            </a:r>
            <a:r>
              <a:rPr lang="en-US" sz="1250">
                <a:solidFill>
                  <a:srgbClr val="E4EEF1"/>
                </a:solidFill>
                <a:latin typeface="Calibri"/>
                <a:ea typeface="Calibri"/>
                <a:cs typeface="Calibri"/>
                <a:sym typeface="Calibri"/>
              </a:rPr>
              <a:t> conecta ingeniería de software, IA aplicada y ciberseguridad, un perfil de alta demanda en la industria TI actual.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Proyecto APT · COMTE  |  Capstone PTY4614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01 · DESCRIPCIÓN Y RELEVANCIA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Justificación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48640" y="1828800"/>
            <a:ext cx="2697480" cy="393192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595628" y="2148840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lert.png" id="78" name="Google Shape;7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2013" y="221522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>
            <a:off x="713232" y="2971800"/>
            <a:ext cx="23682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Nuevas exigencias regulatorias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731520" y="3794760"/>
            <a:ext cx="2331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Las leyes 21.663 y 21.719 obligan a Pymes a demostrar cumplimiento en seguridad de datos.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3474720" y="1828800"/>
            <a:ext cx="2697480" cy="3931920"/>
          </a:xfrm>
          <a:prstGeom prst="rect">
            <a:avLst/>
          </a:prstGeom>
          <a:solidFill>
            <a:srgbClr val="DCEA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521708" y="2148840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users.png" id="83" name="Google Shape;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8093" y="221522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3639312" y="2971800"/>
            <a:ext cx="23682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Factor humano limitado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3657600" y="3794760"/>
            <a:ext cx="2331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Los equipos de Pymes son pequeños; el proceso manual es lento, costoso y propenso a errores.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400800" y="1828800"/>
            <a:ext cx="2697480" cy="393192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447788" y="2148840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robot.png" id="88" name="Google Shape;8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14173" y="221522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6565392" y="2971800"/>
            <a:ext cx="23682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IA como palanca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6583680" y="3794760"/>
            <a:ext cx="2331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Modelos de IA identifican brechas, priorizan riesgos y generan reportes de forma continua.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9326880" y="1828800"/>
            <a:ext cx="2697480" cy="3931920"/>
          </a:xfrm>
          <a:prstGeom prst="rect">
            <a:avLst/>
          </a:prstGeom>
          <a:solidFill>
            <a:srgbClr val="DCEA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0373868" y="2148840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oins.png" id="93" name="Google Shape;93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440253" y="221522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4"/>
          <p:cNvSpPr/>
          <p:nvPr/>
        </p:nvSpPr>
        <p:spPr>
          <a:xfrm>
            <a:off x="9491472" y="2971800"/>
            <a:ext cx="2368296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50"/>
              <a:buFont typeface="Cambria"/>
              <a:buNone/>
            </a:pPr>
            <a:r>
              <a:rPr b="1" lang="en-US" sz="14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Reducción de costos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509760" y="3794760"/>
            <a:ext cx="2331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Automatizar evita capacitar equipos completos en gestión documental de la norma ISO.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5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02 · PERFIL DE EGRESO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Vínculo con las competencias del perfil de egreso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48640" y="2532888"/>
            <a:ext cx="539496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3A5866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13232" y="2862072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heck.png"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559" y="2918399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1371600" y="26517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Pruebas de certificación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371600" y="2953512"/>
            <a:ext cx="4389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576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C5765"/>
                </a:solidFill>
                <a:latin typeface="Calibri"/>
                <a:ea typeface="Calibri"/>
                <a:cs typeface="Calibri"/>
                <a:sym typeface="Calibri"/>
              </a:rPr>
              <a:t>Diseño y aplicación de pruebas de validación del software según buenas prácticas de la industria, mejorando el producto con base en sus resultados.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263640" y="2532888"/>
            <a:ext cx="539496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3A5866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428232" y="2862072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lipboard.png" id="111" name="Google Shape;11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4559" y="2918399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5"/>
          <p:cNvSpPr/>
          <p:nvPr/>
        </p:nvSpPr>
        <p:spPr>
          <a:xfrm>
            <a:off x="7086600" y="26517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Gestión de proyectos informáticos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086600" y="2953512"/>
            <a:ext cx="4389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576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C5765"/>
                </a:solidFill>
                <a:latin typeface="Calibri"/>
                <a:ea typeface="Calibri"/>
                <a:cs typeface="Calibri"/>
                <a:sym typeface="Calibri"/>
              </a:rPr>
              <a:t>Planificación y control del proyecto bajo metodología Scrum, con alternativas de decisión ante los requerimientos de InnovaChile y del cliente.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48640" y="3904488"/>
            <a:ext cx="539496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3A5866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13232" y="4233672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network.png" id="116" name="Google Shape;11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559" y="4289999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1371600" y="40233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Modelos de datos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1371600" y="4325112"/>
            <a:ext cx="4389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576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C5765"/>
                </a:solidFill>
                <a:latin typeface="Calibri"/>
                <a:ea typeface="Calibri"/>
                <a:cs typeface="Calibri"/>
                <a:sym typeface="Calibri"/>
              </a:rPr>
              <a:t>Diseño e implementación de modelos de datos escalables para soportar el motor de scoring y el historial de cumplimiento.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263640" y="3904488"/>
            <a:ext cx="5394960" cy="117043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3A5866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6428232" y="4233672"/>
            <a:ext cx="512064" cy="51206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ogs.png" id="121" name="Google Shape;121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84559" y="4289999"/>
            <a:ext cx="399410" cy="39941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/>
          <p:nvPr/>
        </p:nvSpPr>
        <p:spPr>
          <a:xfrm>
            <a:off x="7086600" y="402336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Desarrollo de software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086600" y="4325112"/>
            <a:ext cx="43891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C576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C5765"/>
                </a:solidFill>
                <a:latin typeface="Calibri"/>
                <a:ea typeface="Calibri"/>
                <a:cs typeface="Calibri"/>
                <a:sym typeface="Calibri"/>
              </a:rPr>
              <a:t>Construcción, integración e implantación de una solución SaaS que sistematiza el proceso de desarrollo y mantenimiento.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03 · INTERESES PROFESIONALES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Relación con nuestros intereses profesionales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48640" y="1965960"/>
            <a:ext cx="3246120" cy="397764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869948" y="2240280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users.png" id="134" name="Google Shape;13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6333" y="230666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>
            <a:off x="731520" y="30175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Integrante 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777240" y="3474720"/>
            <a:ext cx="2788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114800" y="1965960"/>
            <a:ext cx="3246120" cy="397764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5436108" y="2240280"/>
            <a:ext cx="603504" cy="603504"/>
          </a:xfrm>
          <a:prstGeom prst="ellipse">
            <a:avLst/>
          </a:prstGeom>
          <a:solidFill>
            <a:srgbClr val="3FA6A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users.png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2493" y="230666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/>
          <p:nvPr/>
        </p:nvSpPr>
        <p:spPr>
          <a:xfrm>
            <a:off x="4297680" y="30175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Integrante 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343400" y="3474720"/>
            <a:ext cx="2788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7680960" y="1965960"/>
            <a:ext cx="3246120" cy="397764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002268" y="2240280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users.png" id="144" name="Google Shape;14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68653" y="230666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6"/>
          <p:cNvSpPr/>
          <p:nvPr/>
        </p:nvSpPr>
        <p:spPr>
          <a:xfrm>
            <a:off x="7863840" y="301752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500"/>
              <a:buFont typeface="Cambria"/>
              <a:buNone/>
            </a:pPr>
            <a:r>
              <a:rPr b="1" lang="en-US" sz="15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Integrante 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7909560" y="3474720"/>
            <a:ext cx="27889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04 · FACTIBILIDAD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Factibilidad dentro de la asignatura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48640" y="1783080"/>
            <a:ext cx="10607040" cy="132588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777240" y="214884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alendar.png" id="157" name="Google Shape;15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20" y="2214220"/>
            <a:ext cx="463601" cy="463601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/>
          <p:nvPr/>
        </p:nvSpPr>
        <p:spPr>
          <a:xfrm>
            <a:off x="1600200" y="1901952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Tiempo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480560" y="1901952"/>
            <a:ext cx="6492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El desarrollo se organiza en sprints Scrum alineados a las etapas CREA y VALIDA del cronograma, ajustados al periodo académico.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548640" y="3291840"/>
            <a:ext cx="10607040" cy="132588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777240" y="365760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ogs.png" id="162" name="Google Shape;1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620" y="3722980"/>
            <a:ext cx="463601" cy="463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1600200" y="3410712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Materiales y recursos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480560" y="3410712"/>
            <a:ext cx="6492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Se cuenta con servidor local aportado por la empresa, modelos de IA, equipo de desarrollo y un especialista ISO 27001:2022.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48640" y="4800600"/>
            <a:ext cx="10607040" cy="132588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777240" y="5166360"/>
            <a:ext cx="594360" cy="59436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lert.png" id="167" name="Google Shape;16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620" y="5231740"/>
            <a:ext cx="463601" cy="463601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7"/>
          <p:cNvSpPr/>
          <p:nvPr/>
        </p:nvSpPr>
        <p:spPr>
          <a:xfrm>
            <a:off x="1600200" y="4919472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400"/>
              <a:buFont typeface="Cambria"/>
              <a:buNone/>
            </a:pPr>
            <a:r>
              <a:rPr b="1" lang="en-US" sz="14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Factores externos y mitigación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4480560" y="4919472"/>
            <a:ext cx="649224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Ante la complejidad técnica del entrenamiento de IA o demoras en la evaluación de InnovaChile, se prioriza un MVP acotado y se documentan hitos de continuidad.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03E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6A1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3FA6A1"/>
                </a:solidFill>
                <a:latin typeface="Calibri"/>
                <a:ea typeface="Calibri"/>
                <a:cs typeface="Calibri"/>
                <a:sym typeface="Calibri"/>
              </a:rPr>
              <a:t>05 · OBJETIVOS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Objetivos del proyecto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48640" y="1828800"/>
            <a:ext cx="5120640" cy="40233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822960" y="20574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6A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rgbClr val="3FA6A1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822960" y="288036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Desarrollar la arquitectura y el algoritmo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822960" y="3657600"/>
            <a:ext cx="4572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6E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D7E6EB"/>
                </a:solidFill>
                <a:latin typeface="Calibri"/>
                <a:ea typeface="Calibri"/>
                <a:cs typeface="Calibri"/>
                <a:sym typeface="Calibri"/>
              </a:rPr>
              <a:t>Construir la arquitectura del sistema, el motor de scoring y el plan de remediación automatizado.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2" name="Google Shape;182;p8"/>
          <p:cNvCxnSpPr/>
          <p:nvPr/>
        </p:nvCxnSpPr>
        <p:spPr>
          <a:xfrm>
            <a:off x="822960" y="489204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8"/>
          <p:cNvSpPr/>
          <p:nvPr/>
        </p:nvSpPr>
        <p:spPr>
          <a:xfrm>
            <a:off x="822960" y="502920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A6A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3FA6A1"/>
                </a:solidFill>
                <a:latin typeface="Calibri"/>
                <a:ea typeface="Calibri"/>
                <a:cs typeface="Calibri"/>
                <a:sym typeface="Calibri"/>
              </a:rPr>
              <a:t>Indicador de éxito: 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de los módulos integrados en el MVP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6035040" y="1828800"/>
            <a:ext cx="5120640" cy="4023360"/>
          </a:xfrm>
          <a:prstGeom prst="rect">
            <a:avLst/>
          </a:prstGeom>
          <a:solidFill>
            <a:srgbClr val="0B3D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309360" y="2057400"/>
            <a:ext cx="91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A6A1"/>
              </a:buClr>
              <a:buSzPts val="4400"/>
              <a:buFont typeface="Cambria"/>
              <a:buNone/>
            </a:pPr>
            <a:r>
              <a:rPr b="1" lang="en-US" sz="4400">
                <a:solidFill>
                  <a:srgbClr val="3FA6A1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309360" y="288036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mbria"/>
              <a:buNone/>
            </a:pPr>
            <a:r>
              <a:rPr b="1" lang="en-US" sz="1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Implementar el software en Pymes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309360" y="3657600"/>
            <a:ext cx="4572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7E6E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D7E6EB"/>
                </a:solidFill>
                <a:latin typeface="Calibri"/>
                <a:ea typeface="Calibri"/>
                <a:cs typeface="Calibri"/>
                <a:sym typeface="Calibri"/>
              </a:rPr>
              <a:t>Ejecutar una marcha blanca (piloto) del sistema en empresas reales durante la etapa VALIDA.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8"/>
          <p:cNvCxnSpPr/>
          <p:nvPr/>
        </p:nvCxnSpPr>
        <p:spPr>
          <a:xfrm>
            <a:off x="6309360" y="4892040"/>
            <a:ext cx="457200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8"/>
          <p:cNvSpPr/>
          <p:nvPr/>
        </p:nvSpPr>
        <p:spPr>
          <a:xfrm>
            <a:off x="6309360" y="5029200"/>
            <a:ext cx="4572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A6A1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3FA6A1"/>
                </a:solidFill>
                <a:latin typeface="Calibri"/>
                <a:ea typeface="Calibri"/>
                <a:cs typeface="Calibri"/>
                <a:sym typeface="Calibri"/>
              </a:rPr>
              <a:t>Indicador de éxito: 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 de rendimiento y satisfacción del cliente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4C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9FB4C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06 · PLAN DE TRABAJO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Plan de trabajo y cronograma de hitos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10"/>
          <p:cNvCxnSpPr/>
          <p:nvPr/>
        </p:nvCxnSpPr>
        <p:spPr>
          <a:xfrm>
            <a:off x="1051560" y="1920240"/>
            <a:ext cx="0" cy="3813048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10"/>
          <p:cNvSpPr/>
          <p:nvPr/>
        </p:nvSpPr>
        <p:spPr>
          <a:xfrm>
            <a:off x="950976" y="1892808"/>
            <a:ext cx="201168" cy="201168"/>
          </a:xfrm>
          <a:prstGeom prst="ellipse">
            <a:avLst/>
          </a:prstGeom>
          <a:solidFill>
            <a:srgbClr val="F2A541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950976" y="2551176"/>
            <a:ext cx="201168" cy="201168"/>
          </a:xfrm>
          <a:prstGeom prst="ellipse">
            <a:avLst/>
          </a:prstGeom>
          <a:solidFill>
            <a:srgbClr val="1C729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950976" y="3209544"/>
            <a:ext cx="201168" cy="201168"/>
          </a:xfrm>
          <a:prstGeom prst="ellipse">
            <a:avLst/>
          </a:prstGeom>
          <a:solidFill>
            <a:srgbClr val="1C729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950976" y="3867912"/>
            <a:ext cx="201168" cy="201168"/>
          </a:xfrm>
          <a:prstGeom prst="ellipse">
            <a:avLst/>
          </a:prstGeom>
          <a:solidFill>
            <a:srgbClr val="1C729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950976" y="4526280"/>
            <a:ext cx="201168" cy="201168"/>
          </a:xfrm>
          <a:prstGeom prst="ellipse">
            <a:avLst/>
          </a:prstGeom>
          <a:solidFill>
            <a:srgbClr val="1C729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950976" y="5184648"/>
            <a:ext cx="201168" cy="201168"/>
          </a:xfrm>
          <a:prstGeom prst="ellipse">
            <a:avLst/>
          </a:prstGeom>
          <a:solidFill>
            <a:srgbClr val="1C729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0" y="176479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A541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2A541"/>
                </a:solidFill>
                <a:latin typeface="Calibri"/>
                <a:ea typeface="Calibri"/>
                <a:cs typeface="Calibri"/>
                <a:sym typeface="Calibri"/>
              </a:rPr>
              <a:t>24-08-2026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325880" y="1737360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Inicio del proyecto (kick off / Acta de constitución)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0" y="242316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Por definir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1325880" y="2395728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Diseño de arquitectura y desarrollo del MVP (Etapa CREA)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0" y="3081528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Por definir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1325880" y="3054096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Entrenamiento e integración de IA local y no local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0" y="3739896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Por definir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325880" y="3712464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Evaluación técnica InnovaChile (hito de continuidad)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0" y="439826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Por definir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325880" y="4370832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Inicio de pilotos en Pymes (Etapa VALIDA)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0" y="5056632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Por definir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1325880" y="5029200"/>
            <a:ext cx="9509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Validación del modelo SaaS y cierre del proyecto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Proyecto APT · COMTE  |  Capstone PTY4614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F3F5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06 · PLAN DE TRABAJO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Recursos y equipo preasignado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48640" y="1828800"/>
            <a:ext cx="2514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3A5866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1513332" y="2103120"/>
            <a:ext cx="585216" cy="5852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users.png" id="228" name="Google Shape;2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77706" y="2167494"/>
            <a:ext cx="456468" cy="4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1"/>
          <p:cNvSpPr/>
          <p:nvPr/>
        </p:nvSpPr>
        <p:spPr>
          <a:xfrm>
            <a:off x="685800" y="288036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250"/>
              <a:buFont typeface="Cambria"/>
              <a:buNone/>
            </a:pPr>
            <a:r>
              <a:rPr b="1" lang="en-US" sz="12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Equipo de desarrollo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713232" y="3520440"/>
            <a:ext cx="218541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76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C5765"/>
                </a:solidFill>
                <a:latin typeface="Calibri"/>
                <a:ea typeface="Calibri"/>
                <a:cs typeface="Calibri"/>
                <a:sym typeface="Calibri"/>
              </a:rPr>
              <a:t>Metodología Scrum, departamento de Operaciones y TI.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3319272" y="1828800"/>
            <a:ext cx="2514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3A5866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283964" y="2103120"/>
            <a:ext cx="585216" cy="5852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shield.png" id="233" name="Google Shape;23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48338" y="2167494"/>
            <a:ext cx="456468" cy="4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1"/>
          <p:cNvSpPr/>
          <p:nvPr/>
        </p:nvSpPr>
        <p:spPr>
          <a:xfrm>
            <a:off x="3456432" y="288036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250"/>
              <a:buFont typeface="Cambria"/>
              <a:buNone/>
            </a:pPr>
            <a:r>
              <a:rPr b="1" lang="en-US" sz="12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Especialista ISO 27001:2022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3483864" y="3520440"/>
            <a:ext cx="218541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76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C5765"/>
                </a:solidFill>
                <a:latin typeface="Calibri"/>
                <a:ea typeface="Calibri"/>
                <a:cs typeface="Calibri"/>
                <a:sym typeface="Calibri"/>
              </a:rPr>
              <a:t>Valida controles del Anexo A y criterios de cumplimiento.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089904" y="1828800"/>
            <a:ext cx="2514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3A5866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7054596" y="2103120"/>
            <a:ext cx="585216" cy="5852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network.png" id="238" name="Google Shape;23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8970" y="2167494"/>
            <a:ext cx="456468" cy="4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1"/>
          <p:cNvSpPr/>
          <p:nvPr/>
        </p:nvSpPr>
        <p:spPr>
          <a:xfrm>
            <a:off x="6227064" y="288036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250"/>
              <a:buFont typeface="Cambria"/>
              <a:buNone/>
            </a:pPr>
            <a:r>
              <a:rPr b="1" lang="en-US" sz="12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Servidor local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254496" y="3520440"/>
            <a:ext cx="218541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76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C5765"/>
                </a:solidFill>
                <a:latin typeface="Calibri"/>
                <a:ea typeface="Calibri"/>
                <a:cs typeface="Calibri"/>
                <a:sym typeface="Calibri"/>
              </a:rPr>
              <a:t>Infraestructura aportada por Keen Eye IT para IA local segura.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8860536" y="1828800"/>
            <a:ext cx="251460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5400000" dist="25400">
              <a:srgbClr val="3A5866">
                <a:alpha val="14902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9825228" y="2103120"/>
            <a:ext cx="585216" cy="585216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robot.png" id="243" name="Google Shape;243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89602" y="2167494"/>
            <a:ext cx="456468" cy="45646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1"/>
          <p:cNvSpPr/>
          <p:nvPr/>
        </p:nvSpPr>
        <p:spPr>
          <a:xfrm>
            <a:off x="8997696" y="288036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250"/>
              <a:buFont typeface="Cambria"/>
              <a:buNone/>
            </a:pPr>
            <a:r>
              <a:rPr b="1" lang="en-US" sz="12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Modelos de IA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1"/>
          <p:cNvSpPr/>
          <p:nvPr/>
        </p:nvSpPr>
        <p:spPr>
          <a:xfrm>
            <a:off x="9025128" y="3520440"/>
            <a:ext cx="218541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576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3C5765"/>
                </a:solidFill>
                <a:latin typeface="Calibri"/>
                <a:ea typeface="Calibri"/>
                <a:cs typeface="Calibri"/>
                <a:sym typeface="Calibri"/>
              </a:rPr>
              <a:t>Motor de scoring y priorización de riesgo vs. esfuerzo.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48640" y="53492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Presupuesto total: </a:t>
            </a:r>
            <a:r>
              <a:rPr lang="en-US" sz="12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$175.000.000 CLP   ·   </a:t>
            </a:r>
            <a:r>
              <a:rPr b="1" lang="en-US" sz="12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Subsidio CORFO (80%): </a:t>
            </a:r>
            <a:r>
              <a:rPr lang="en-US" sz="12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$140.000.000   ·   </a:t>
            </a:r>
            <a:r>
              <a:rPr b="1" lang="en-US" sz="125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Aporte empresa (20%): </a:t>
            </a:r>
            <a:r>
              <a:rPr lang="en-US" sz="1250">
                <a:solidFill>
                  <a:srgbClr val="13203E"/>
                </a:solidFill>
                <a:latin typeface="Calibri"/>
                <a:ea typeface="Calibri"/>
                <a:cs typeface="Calibri"/>
                <a:sym typeface="Calibri"/>
              </a:rPr>
              <a:t>$35.000.000 aprox.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2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06 · EVIDENCIAS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Evidencias del logro de actividades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548640" y="1828800"/>
            <a:ext cx="3429000" cy="393192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1961388" y="2148840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lipboard.png" id="257" name="Google Shape;25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7773" y="221522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2"/>
          <p:cNvSpPr/>
          <p:nvPr/>
        </p:nvSpPr>
        <p:spPr>
          <a:xfrm>
            <a:off x="731520" y="297180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Documentación técnica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777240" y="3611880"/>
            <a:ext cx="2971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Arquitectura, diagramas de diseño e informe de evaluación técnica InnovaChile, que evidencian el avance de la Etapa CREA.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4206240" y="1828800"/>
            <a:ext cx="3429000" cy="3931920"/>
          </a:xfrm>
          <a:prstGeom prst="rect">
            <a:avLst/>
          </a:prstGeom>
          <a:solidFill>
            <a:srgbClr val="DCEAE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5618988" y="2148840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hart.png" id="262" name="Google Shape;26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5373" y="221522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12"/>
          <p:cNvSpPr/>
          <p:nvPr/>
        </p:nvSpPr>
        <p:spPr>
          <a:xfrm>
            <a:off x="4389120" y="297180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Reportes de desempeño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4434840" y="3611880"/>
            <a:ext cx="2971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Reporte técnico y de satisfacción del cliente generados durante el piloto (marcha blanca) en Pymes.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7863840" y="1828800"/>
            <a:ext cx="3429000" cy="393192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9276588" y="2148840"/>
            <a:ext cx="603504" cy="60350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check.png" id="267" name="Google Shape;26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42973" y="221522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/>
          <p:nvPr/>
        </p:nvSpPr>
        <p:spPr>
          <a:xfrm>
            <a:off x="8046720" y="2971800"/>
            <a:ext cx="3063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350"/>
              <a:buFont typeface="Cambria"/>
              <a:buNone/>
            </a:pPr>
            <a:r>
              <a:rPr b="1" lang="en-US" sz="135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Prototipo funcional (MVP)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8092440" y="3611880"/>
            <a:ext cx="29718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Demostración operativa del motor de scoring y del plan de remediación como evidencia tangible del cumplimiento de objetivos.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07 · RIESGOS INICIALES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548640" y="658368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Riesgos iniciales de alto nivel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548640" y="1828800"/>
            <a:ext cx="3429000" cy="384048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48640" y="1828800"/>
            <a:ext cx="3429000" cy="82296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1961388" y="2148840"/>
            <a:ext cx="603504" cy="6035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lert.png" id="281" name="Google Shape;28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7773" y="221522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3"/>
          <p:cNvSpPr/>
          <p:nvPr/>
        </p:nvSpPr>
        <p:spPr>
          <a:xfrm>
            <a:off x="731520" y="2971800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Complejidad técnica del entrenamiento de 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777240" y="3794760"/>
            <a:ext cx="2971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Posibles retrasos para que los modelos apliquen automáticamente los controles del Anexo 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7863840" y="1828800"/>
            <a:ext cx="3429000" cy="3840480"/>
          </a:xfrm>
          <a:prstGeom prst="rect">
            <a:avLst/>
          </a:prstGeom>
          <a:solidFill>
            <a:srgbClr val="EAF3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7863840" y="1828800"/>
            <a:ext cx="3429000" cy="82296"/>
          </a:xfrm>
          <a:prstGeom prst="rect">
            <a:avLst/>
          </a:prstGeom>
          <a:solidFill>
            <a:srgbClr val="F2A5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9276588" y="2148840"/>
            <a:ext cx="603504" cy="603504"/>
          </a:xfrm>
          <a:prstGeom prst="ellipse">
            <a:avLst/>
          </a:prstGeom>
          <a:solidFill>
            <a:srgbClr val="F2A54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alert.png" id="287" name="Google Shape;2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2973" y="2215225"/>
            <a:ext cx="470733" cy="47073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3"/>
          <p:cNvSpPr/>
          <p:nvPr/>
        </p:nvSpPr>
        <p:spPr>
          <a:xfrm>
            <a:off x="8046720" y="2971800"/>
            <a:ext cx="3063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203E"/>
              </a:buClr>
              <a:buSzPts val="1300"/>
              <a:buFont typeface="Cambria"/>
              <a:buNone/>
            </a:pPr>
            <a:r>
              <a:rPr b="1" lang="en-US" sz="1300">
                <a:solidFill>
                  <a:srgbClr val="13203E"/>
                </a:solidFill>
                <a:latin typeface="Cambria"/>
                <a:ea typeface="Cambria"/>
                <a:cs typeface="Cambria"/>
                <a:sym typeface="Cambria"/>
              </a:rPr>
              <a:t>Resistencia a la digitalización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8092440" y="3794760"/>
            <a:ext cx="29718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24A57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324A57"/>
                </a:solidFill>
                <a:latin typeface="Calibri"/>
                <a:ea typeface="Calibri"/>
                <a:cs typeface="Calibri"/>
                <a:sym typeface="Calibri"/>
              </a:rPr>
              <a:t>Las Pymes pueden mostrar baja disposición o accesibilidad para adoptar la nueva tecnología.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Proyecto APT · COMTE  |  Capstone PTY4614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C7A8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C7A8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203E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3FA6A1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5637276" y="146304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cons/handshake.png" id="300" name="Google Shape;3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37860" y="1563624"/>
            <a:ext cx="713232" cy="71323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lang="en-US" sz="4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2026-09-01T05:13:45Z</dcterms:created>
  <dc:creator>PptxGenJS</dc:creator>
</cp:coreProperties>
</file>